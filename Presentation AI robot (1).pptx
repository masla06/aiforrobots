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6" r:id="rId7"/>
    <p:sldId id="287" r:id="rId8"/>
    <p:sldId id="290" r:id="rId9"/>
    <p:sldId id="291" r:id="rId10"/>
    <p:sldId id="261" r:id="rId11"/>
    <p:sldId id="292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3A526-A8A8-AA05-7656-E78AD0994B9E}" v="4" dt="2026-10-31T13:49:59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B0E21E-3D36-41BD-809D-2A4C32BFF3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60C023-CF76-474F-AA79-076C176A7FF1}">
      <dgm:prSet phldrT="[Text]" phldr="0"/>
      <dgm:spPr/>
      <dgm:t>
        <a:bodyPr/>
        <a:lstStyle/>
        <a:p>
          <a:pPr algn="l" rtl="0"/>
          <a:r>
            <a:rPr lang="en-US" b="1">
              <a:solidFill>
                <a:schemeClr val="bg1"/>
              </a:solidFill>
              <a:latin typeface="Arial"/>
              <a:cs typeface="Arial"/>
            </a:rPr>
            <a:t>The right model for the right task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348149CF-ACCF-4D0C-953D-F16353C0E636}" type="parTrans" cxnId="{0830ADEF-31CF-4CB9-A3D1-A3CA9A2C8772}">
      <dgm:prSet/>
      <dgm:spPr/>
    </dgm:pt>
    <dgm:pt modelId="{177FD155-DE54-495F-AA20-EF51C5C4FA22}" type="sibTrans" cxnId="{0830ADEF-31CF-4CB9-A3D1-A3CA9A2C8772}">
      <dgm:prSet/>
      <dgm:spPr/>
    </dgm:pt>
    <dgm:pt modelId="{D8CA61F4-41D7-4B1D-A8D3-0EC013A53970}">
      <dgm:prSet phldrT="[Text]" phldr="0"/>
      <dgm:spPr/>
      <dgm:t>
        <a:bodyPr/>
        <a:lstStyle/>
        <a:p>
          <a:pPr algn="l" rtl="0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A task comes in and the small model evaluates it on the robot</a:t>
          </a:r>
        </a:p>
      </dgm:t>
    </dgm:pt>
    <dgm:pt modelId="{24E72C15-3E21-4349-88ED-81741A28BFFB}" type="parTrans" cxnId="{CC892B0C-C70B-48EC-B72D-D9F6D9244658}">
      <dgm:prSet/>
      <dgm:spPr/>
    </dgm:pt>
    <dgm:pt modelId="{D890622C-2EF1-47A9-9EB5-796FA0F20C46}" type="sibTrans" cxnId="{CC892B0C-C70B-48EC-B72D-D9F6D9244658}">
      <dgm:prSet/>
      <dgm:spPr/>
    </dgm:pt>
    <dgm:pt modelId="{2FB97D16-34D8-4B59-A784-DECF7988767C}">
      <dgm:prSet phldrT="[Text]" phldr="0"/>
      <dgm:spPr/>
      <dgm:t>
        <a:bodyPr/>
        <a:lstStyle/>
        <a:p>
          <a:pPr algn="l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It checks how complex the task is and how confident it is in its own answer</a:t>
          </a:r>
        </a:p>
      </dgm:t>
    </dgm:pt>
    <dgm:pt modelId="{3DDFBD2B-A425-4478-8FB6-626539A9C6EB}" type="parTrans" cxnId="{F36C552C-F59B-4BBF-9C63-DBF81F7370EB}">
      <dgm:prSet/>
      <dgm:spPr/>
    </dgm:pt>
    <dgm:pt modelId="{D36DE823-C5DD-4E3B-97AC-AC6BF5194519}" type="sibTrans" cxnId="{F36C552C-F59B-4BBF-9C63-DBF81F7370EB}">
      <dgm:prSet/>
      <dgm:spPr/>
    </dgm:pt>
    <dgm:pt modelId="{EDEE0846-8286-4E89-8C12-4A8454819BA6}">
      <dgm:prSet phldrT="[Text]" phldr="0"/>
      <dgm:spPr/>
      <dgm:t>
        <a:bodyPr/>
        <a:lstStyle/>
        <a:p>
          <a:pPr algn="l" rtl="0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If it’s simple or confidence is high, the small model solves it right away, with no network needed</a:t>
          </a:r>
        </a:p>
      </dgm:t>
    </dgm:pt>
    <dgm:pt modelId="{16364C6B-FCCB-40F2-899C-29E98A205DDE}" type="parTrans" cxnId="{1024170F-9056-4E7A-A8CD-6E1236B82EF5}">
      <dgm:prSet/>
      <dgm:spPr/>
    </dgm:pt>
    <dgm:pt modelId="{A8A12B05-0DA2-4D6E-9C80-C86D104C72E5}" type="sibTrans" cxnId="{1024170F-9056-4E7A-A8CD-6E1236B82EF5}">
      <dgm:prSet/>
      <dgm:spPr/>
    </dgm:pt>
    <dgm:pt modelId="{DB88FFE9-0618-4D42-8F75-60B0FC8C9888}">
      <dgm:prSet phldrT="[Text]" phldr="0"/>
      <dgm:spPr/>
      <dgm:t>
        <a:bodyPr/>
        <a:lstStyle/>
        <a:p>
          <a:pPr algn="l" rtl="0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If it’s complex or confidence is low, and the connection is available, the small model sends the relevant information to the big model</a:t>
          </a:r>
        </a:p>
      </dgm:t>
    </dgm:pt>
    <dgm:pt modelId="{76ACEF7D-FDB9-4B6B-898E-36268F1D885D}" type="parTrans" cxnId="{FDF6A00A-322F-46D7-91A5-8E5D9432E17C}">
      <dgm:prSet/>
      <dgm:spPr/>
    </dgm:pt>
    <dgm:pt modelId="{089F0370-8C29-4D4B-AD50-638738D02848}" type="sibTrans" cxnId="{FDF6A00A-322F-46D7-91A5-8E5D9432E17C}">
      <dgm:prSet/>
      <dgm:spPr/>
    </dgm:pt>
    <dgm:pt modelId="{9BCE3083-24D6-473A-9A36-4737B413E62C}">
      <dgm:prSet phldrT="[Text]" phldr="0"/>
      <dgm:spPr/>
      <dgm:t>
        <a:bodyPr/>
        <a:lstStyle/>
        <a:p>
          <a:pPr algn="l" rtl="0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The big model reasons about it and sends the result back, and the robot executes it</a:t>
          </a:r>
        </a:p>
      </dgm:t>
    </dgm:pt>
    <dgm:pt modelId="{DEECB136-4986-4E24-BCA1-187E3AC05E03}" type="parTrans" cxnId="{7E6E9ECE-E836-4283-AC49-233DD900E021}">
      <dgm:prSet/>
      <dgm:spPr/>
    </dgm:pt>
    <dgm:pt modelId="{B69FA48E-A81A-41F6-9ACC-3787CE00FFDF}" type="sibTrans" cxnId="{7E6E9ECE-E836-4283-AC49-233DD900E021}">
      <dgm:prSet/>
      <dgm:spPr/>
    </dgm:pt>
    <dgm:pt modelId="{BFBB76AE-B6DA-4182-9ACB-61DC5FFEDF37}">
      <dgm:prSet phldrT="[Text]" phldr="0"/>
      <dgm:spPr/>
      <dgm:t>
        <a:bodyPr/>
        <a:lstStyle/>
        <a:p>
          <a:pPr algn="l"/>
          <a:r>
            <a:rPr lang="en-US" b="1">
              <a:solidFill>
                <a:schemeClr val="bg1"/>
              </a:solidFill>
              <a:latin typeface="Arial"/>
              <a:cs typeface="Arial"/>
            </a:rPr>
            <a:t>What the decision depends on: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6A669A9F-5795-4F96-8560-A22B11EF2D61}" type="parTrans" cxnId="{9541B66E-52EB-416D-9050-5E0FED380C0E}">
      <dgm:prSet/>
      <dgm:spPr/>
    </dgm:pt>
    <dgm:pt modelId="{1C9490EC-2A69-4B00-915F-FA2722AE054F}" type="sibTrans" cxnId="{9541B66E-52EB-416D-9050-5E0FED380C0E}">
      <dgm:prSet/>
      <dgm:spPr/>
    </dgm:pt>
    <dgm:pt modelId="{AC0B5162-3C48-4A30-BE6E-05373E784DAA}">
      <dgm:prSet phldrT="[Text]" phldr="0"/>
      <dgm:spPr/>
      <dgm:t>
        <a:bodyPr/>
        <a:lstStyle/>
        <a:p>
          <a:pPr algn="l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Task complexity and the small model’s confidence</a:t>
          </a:r>
        </a:p>
      </dgm:t>
    </dgm:pt>
    <dgm:pt modelId="{F5D03369-1ACD-4458-897D-6234ECD42515}" type="parTrans" cxnId="{B9430BA3-5674-45A6-8444-D87EA8AAD3E0}">
      <dgm:prSet/>
      <dgm:spPr/>
    </dgm:pt>
    <dgm:pt modelId="{1AF802E3-BA99-4B23-9ABC-649A4EA1ED50}" type="sibTrans" cxnId="{B9430BA3-5674-45A6-8444-D87EA8AAD3E0}">
      <dgm:prSet/>
      <dgm:spPr/>
    </dgm:pt>
    <dgm:pt modelId="{F65ECAFE-7E3E-4605-BB23-488E29949310}">
      <dgm:prSet phldrT="[Text]" phldr="0"/>
      <dgm:spPr/>
      <dgm:t>
        <a:bodyPr/>
        <a:lstStyle/>
        <a:p>
          <a:pPr algn="l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Urgency: time-critical tasks stay local</a:t>
          </a:r>
        </a:p>
      </dgm:t>
    </dgm:pt>
    <dgm:pt modelId="{4BF7410A-3564-4745-9FB8-02488ED4F201}" type="parTrans" cxnId="{3556A551-81D6-4775-AC53-1E6725EEB4DE}">
      <dgm:prSet/>
      <dgm:spPr/>
    </dgm:pt>
    <dgm:pt modelId="{F8576AA1-9348-4B1D-A165-37FD766BC5B7}" type="sibTrans" cxnId="{3556A551-81D6-4775-AC53-1E6725EEB4DE}">
      <dgm:prSet/>
      <dgm:spPr/>
    </dgm:pt>
    <dgm:pt modelId="{5E7E584F-D1FE-480B-9F2D-90A5AB159B82}">
      <dgm:prSet phldrT="[Text]" phldr="0"/>
      <dgm:spPr/>
      <dgm:t>
        <a:bodyPr/>
        <a:lstStyle/>
        <a:p>
          <a:pPr algn="l"/>
          <a:r>
            <a:rPr lang="en-US" sz="1400">
              <a:solidFill>
                <a:schemeClr val="bg1"/>
              </a:solidFill>
              <a:latin typeface="Arial"/>
              <a:cs typeface="Arial"/>
            </a:rPr>
            <a:t>Connection quality (Wi-Fi/5G) and battery level</a:t>
          </a:r>
        </a:p>
      </dgm:t>
    </dgm:pt>
    <dgm:pt modelId="{AA352C1F-5F3B-4208-BDCB-B6BA9093B2D8}" type="parTrans" cxnId="{30126D90-BADD-4025-8611-C725755B8CF1}">
      <dgm:prSet/>
      <dgm:spPr/>
    </dgm:pt>
    <dgm:pt modelId="{F9C1ED4C-6C46-43EA-9CE4-DB8F8F734F23}" type="sibTrans" cxnId="{30126D90-BADD-4025-8611-C725755B8CF1}">
      <dgm:prSet/>
      <dgm:spPr/>
    </dgm:pt>
    <dgm:pt modelId="{BE21784D-DB72-4760-93F7-DEFCD222D0FF}" type="pres">
      <dgm:prSet presAssocID="{FFB0E21E-3D36-41BD-809D-2A4C32BFF347}" presName="linear" presStyleCnt="0">
        <dgm:presLayoutVars>
          <dgm:animLvl val="lvl"/>
          <dgm:resizeHandles val="exact"/>
        </dgm:presLayoutVars>
      </dgm:prSet>
      <dgm:spPr/>
    </dgm:pt>
    <dgm:pt modelId="{FEB38FD0-A405-4EF7-ABB5-4AAB3BF1EF24}" type="pres">
      <dgm:prSet presAssocID="{7F60C023-CF76-474F-AA79-076C176A7F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DDD04E6-06E0-433F-94A1-8E89274FAD34}" type="pres">
      <dgm:prSet presAssocID="{7F60C023-CF76-474F-AA79-076C176A7FF1}" presName="childText" presStyleLbl="revTx" presStyleIdx="0" presStyleCnt="2">
        <dgm:presLayoutVars>
          <dgm:bulletEnabled val="1"/>
        </dgm:presLayoutVars>
      </dgm:prSet>
      <dgm:spPr/>
    </dgm:pt>
    <dgm:pt modelId="{71CE5AA6-67AA-4425-8DB5-02C6AFBDDCEC}" type="pres">
      <dgm:prSet presAssocID="{BFBB76AE-B6DA-4182-9ACB-61DC5FFEDF3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A7B49D1-3076-40E1-B726-F552127E64EA}" type="pres">
      <dgm:prSet presAssocID="{BFBB76AE-B6DA-4182-9ACB-61DC5FFEDF3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DF6A00A-322F-46D7-91A5-8E5D9432E17C}" srcId="{7F60C023-CF76-474F-AA79-076C176A7FF1}" destId="{DB88FFE9-0618-4D42-8F75-60B0FC8C9888}" srcOrd="3" destOrd="0" parTransId="{76ACEF7D-FDB9-4B6B-898E-36268F1D885D}" sibTransId="{089F0370-8C29-4D4B-AD50-638738D02848}"/>
    <dgm:cxn modelId="{CC892B0C-C70B-48EC-B72D-D9F6D9244658}" srcId="{7F60C023-CF76-474F-AA79-076C176A7FF1}" destId="{D8CA61F4-41D7-4B1D-A8D3-0EC013A53970}" srcOrd="0" destOrd="0" parTransId="{24E72C15-3E21-4349-88ED-81741A28BFFB}" sibTransId="{D890622C-2EF1-47A9-9EB5-796FA0F20C46}"/>
    <dgm:cxn modelId="{1024170F-9056-4E7A-A8CD-6E1236B82EF5}" srcId="{7F60C023-CF76-474F-AA79-076C176A7FF1}" destId="{EDEE0846-8286-4E89-8C12-4A8454819BA6}" srcOrd="2" destOrd="0" parTransId="{16364C6B-FCCB-40F2-899C-29E98A205DDE}" sibTransId="{A8A12B05-0DA2-4D6E-9C80-C86D104C72E5}"/>
    <dgm:cxn modelId="{9D0CC91D-2D45-44B8-BB3F-4D3799F12DF9}" type="presOf" srcId="{D8CA61F4-41D7-4B1D-A8D3-0EC013A53970}" destId="{8DDD04E6-06E0-433F-94A1-8E89274FAD34}" srcOrd="0" destOrd="0" presId="urn:microsoft.com/office/officeart/2005/8/layout/vList2"/>
    <dgm:cxn modelId="{387B7626-7D57-4CB0-A8DB-84EEF607C33A}" type="presOf" srcId="{9BCE3083-24D6-473A-9A36-4737B413E62C}" destId="{8DDD04E6-06E0-433F-94A1-8E89274FAD34}" srcOrd="0" destOrd="4" presId="urn:microsoft.com/office/officeart/2005/8/layout/vList2"/>
    <dgm:cxn modelId="{F36C552C-F59B-4BBF-9C63-DBF81F7370EB}" srcId="{7F60C023-CF76-474F-AA79-076C176A7FF1}" destId="{2FB97D16-34D8-4B59-A784-DECF7988767C}" srcOrd="1" destOrd="0" parTransId="{3DDFBD2B-A425-4478-8FB6-626539A9C6EB}" sibTransId="{D36DE823-C5DD-4E3B-97AC-AC6BF5194519}"/>
    <dgm:cxn modelId="{165B9839-F1D4-416C-AF40-99579574BD56}" type="presOf" srcId="{EDEE0846-8286-4E89-8C12-4A8454819BA6}" destId="{8DDD04E6-06E0-433F-94A1-8E89274FAD34}" srcOrd="0" destOrd="2" presId="urn:microsoft.com/office/officeart/2005/8/layout/vList2"/>
    <dgm:cxn modelId="{212F5661-74D9-4F95-BCDA-3C11B93BBC49}" type="presOf" srcId="{DB88FFE9-0618-4D42-8F75-60B0FC8C9888}" destId="{8DDD04E6-06E0-433F-94A1-8E89274FAD34}" srcOrd="0" destOrd="3" presId="urn:microsoft.com/office/officeart/2005/8/layout/vList2"/>
    <dgm:cxn modelId="{7DB52565-7B04-4FD3-AA04-558B9BD3BD8D}" type="presOf" srcId="{7F60C023-CF76-474F-AA79-076C176A7FF1}" destId="{FEB38FD0-A405-4EF7-ABB5-4AAB3BF1EF24}" srcOrd="0" destOrd="0" presId="urn:microsoft.com/office/officeart/2005/8/layout/vList2"/>
    <dgm:cxn modelId="{11ED8245-6415-46C3-91D3-ABD513C0D3E0}" type="presOf" srcId="{2FB97D16-34D8-4B59-A784-DECF7988767C}" destId="{8DDD04E6-06E0-433F-94A1-8E89274FAD34}" srcOrd="0" destOrd="1" presId="urn:microsoft.com/office/officeart/2005/8/layout/vList2"/>
    <dgm:cxn modelId="{9541B66E-52EB-416D-9050-5E0FED380C0E}" srcId="{FFB0E21E-3D36-41BD-809D-2A4C32BFF347}" destId="{BFBB76AE-B6DA-4182-9ACB-61DC5FFEDF37}" srcOrd="1" destOrd="0" parTransId="{6A669A9F-5795-4F96-8560-A22B11EF2D61}" sibTransId="{1C9490EC-2A69-4B00-915F-FA2722AE054F}"/>
    <dgm:cxn modelId="{3556A551-81D6-4775-AC53-1E6725EEB4DE}" srcId="{BFBB76AE-B6DA-4182-9ACB-61DC5FFEDF37}" destId="{F65ECAFE-7E3E-4605-BB23-488E29949310}" srcOrd="1" destOrd="0" parTransId="{4BF7410A-3564-4745-9FB8-02488ED4F201}" sibTransId="{F8576AA1-9348-4B1D-A165-37FD766BC5B7}"/>
    <dgm:cxn modelId="{D3FC7B84-6F0E-42AC-A56E-19BA3DDEE00C}" type="presOf" srcId="{5E7E584F-D1FE-480B-9F2D-90A5AB159B82}" destId="{EA7B49D1-3076-40E1-B726-F552127E64EA}" srcOrd="0" destOrd="2" presId="urn:microsoft.com/office/officeart/2005/8/layout/vList2"/>
    <dgm:cxn modelId="{30126D90-BADD-4025-8611-C725755B8CF1}" srcId="{BFBB76AE-B6DA-4182-9ACB-61DC5FFEDF37}" destId="{5E7E584F-D1FE-480B-9F2D-90A5AB159B82}" srcOrd="2" destOrd="0" parTransId="{AA352C1F-5F3B-4208-BDCB-B6BA9093B2D8}" sibTransId="{F9C1ED4C-6C46-43EA-9CE4-DB8F8F734F23}"/>
    <dgm:cxn modelId="{B9430BA3-5674-45A6-8444-D87EA8AAD3E0}" srcId="{BFBB76AE-B6DA-4182-9ACB-61DC5FFEDF37}" destId="{AC0B5162-3C48-4A30-BE6E-05373E784DAA}" srcOrd="0" destOrd="0" parTransId="{F5D03369-1ACD-4458-897D-6234ECD42515}" sibTransId="{1AF802E3-BA99-4B23-9ABC-649A4EA1ED50}"/>
    <dgm:cxn modelId="{0AA4B3A5-F7C5-42A6-9313-A609C6C57A0E}" type="presOf" srcId="{BFBB76AE-B6DA-4182-9ACB-61DC5FFEDF37}" destId="{71CE5AA6-67AA-4425-8DB5-02C6AFBDDCEC}" srcOrd="0" destOrd="0" presId="urn:microsoft.com/office/officeart/2005/8/layout/vList2"/>
    <dgm:cxn modelId="{F34C08AC-6316-4D8B-BE95-508DDA921CF2}" type="presOf" srcId="{AC0B5162-3C48-4A30-BE6E-05373E784DAA}" destId="{EA7B49D1-3076-40E1-B726-F552127E64EA}" srcOrd="0" destOrd="0" presId="urn:microsoft.com/office/officeart/2005/8/layout/vList2"/>
    <dgm:cxn modelId="{7E6E9ECE-E836-4283-AC49-233DD900E021}" srcId="{7F60C023-CF76-474F-AA79-076C176A7FF1}" destId="{9BCE3083-24D6-473A-9A36-4737B413E62C}" srcOrd="4" destOrd="0" parTransId="{DEECB136-4986-4E24-BCA1-187E3AC05E03}" sibTransId="{B69FA48E-A81A-41F6-9ACC-3787CE00FFDF}"/>
    <dgm:cxn modelId="{B44706D7-36FB-4EDB-90D3-3CB10776E284}" type="presOf" srcId="{F65ECAFE-7E3E-4605-BB23-488E29949310}" destId="{EA7B49D1-3076-40E1-B726-F552127E64EA}" srcOrd="0" destOrd="1" presId="urn:microsoft.com/office/officeart/2005/8/layout/vList2"/>
    <dgm:cxn modelId="{0830ADEF-31CF-4CB9-A3D1-A3CA9A2C8772}" srcId="{FFB0E21E-3D36-41BD-809D-2A4C32BFF347}" destId="{7F60C023-CF76-474F-AA79-076C176A7FF1}" srcOrd="0" destOrd="0" parTransId="{348149CF-ACCF-4D0C-953D-F16353C0E636}" sibTransId="{177FD155-DE54-495F-AA20-EF51C5C4FA22}"/>
    <dgm:cxn modelId="{0CF3EDFB-5377-4F28-8BA3-6DBBC25D17A6}" type="presOf" srcId="{FFB0E21E-3D36-41BD-809D-2A4C32BFF347}" destId="{BE21784D-DB72-4760-93F7-DEFCD222D0FF}" srcOrd="0" destOrd="0" presId="urn:microsoft.com/office/officeart/2005/8/layout/vList2"/>
    <dgm:cxn modelId="{06F0BE13-E3FE-414B-9B98-922F908D01A5}" type="presParOf" srcId="{BE21784D-DB72-4760-93F7-DEFCD222D0FF}" destId="{FEB38FD0-A405-4EF7-ABB5-4AAB3BF1EF24}" srcOrd="0" destOrd="0" presId="urn:microsoft.com/office/officeart/2005/8/layout/vList2"/>
    <dgm:cxn modelId="{45DAAB64-45B1-4534-9E49-CDD2BEDC17A6}" type="presParOf" srcId="{BE21784D-DB72-4760-93F7-DEFCD222D0FF}" destId="{8DDD04E6-06E0-433F-94A1-8E89274FAD34}" srcOrd="1" destOrd="0" presId="urn:microsoft.com/office/officeart/2005/8/layout/vList2"/>
    <dgm:cxn modelId="{A6B2FDA8-147B-475A-AD58-6C7DB9AB2C2A}" type="presParOf" srcId="{BE21784D-DB72-4760-93F7-DEFCD222D0FF}" destId="{71CE5AA6-67AA-4425-8DB5-02C6AFBDDCEC}" srcOrd="2" destOrd="0" presId="urn:microsoft.com/office/officeart/2005/8/layout/vList2"/>
    <dgm:cxn modelId="{F1D4AF6D-E172-4E30-ACD6-0739808E7898}" type="presParOf" srcId="{BE21784D-DB72-4760-93F7-DEFCD222D0FF}" destId="{EA7B49D1-3076-40E1-B726-F552127E64E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38FD0-A405-4EF7-ABB5-4AAB3BF1EF24}">
      <dsp:nvSpPr>
        <dsp:cNvPr id="0" name=""/>
        <dsp:cNvSpPr/>
      </dsp:nvSpPr>
      <dsp:spPr>
        <a:xfrm>
          <a:off x="0" y="18358"/>
          <a:ext cx="8317605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bg1"/>
              </a:solidFill>
              <a:latin typeface="Arial"/>
              <a:cs typeface="Arial"/>
            </a:rPr>
            <a:t>The right model for the right task</a:t>
          </a:r>
          <a:endParaRPr lang="en-US" sz="22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25130" y="43488"/>
        <a:ext cx="8267345" cy="464540"/>
      </dsp:txXfrm>
    </dsp:sp>
    <dsp:sp modelId="{8DDD04E6-06E0-433F-94A1-8E89274FAD34}">
      <dsp:nvSpPr>
        <dsp:cNvPr id="0" name=""/>
        <dsp:cNvSpPr/>
      </dsp:nvSpPr>
      <dsp:spPr>
        <a:xfrm>
          <a:off x="0" y="533158"/>
          <a:ext cx="8317605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084" tIns="27940" rIns="156464" bIns="27940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A task comes in and the small model evaluates it on the robot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It checks how complex the task is and how confident it is in its own answer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If it’s simple or confidence is high, the small model solves it right away, with no network needed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If it’s complex or confidence is low, and the connection is available, the small model sends the relevant information to the big model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The big model reasons about it and sends the result back, and the robot executes it</a:t>
          </a:r>
        </a:p>
      </dsp:txBody>
      <dsp:txXfrm>
        <a:off x="0" y="533158"/>
        <a:ext cx="8317605" cy="2049300"/>
      </dsp:txXfrm>
    </dsp:sp>
    <dsp:sp modelId="{71CE5AA6-67AA-4425-8DB5-02C6AFBDDCEC}">
      <dsp:nvSpPr>
        <dsp:cNvPr id="0" name=""/>
        <dsp:cNvSpPr/>
      </dsp:nvSpPr>
      <dsp:spPr>
        <a:xfrm>
          <a:off x="0" y="2582458"/>
          <a:ext cx="8317605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bg1"/>
              </a:solidFill>
              <a:latin typeface="Arial"/>
              <a:cs typeface="Arial"/>
            </a:rPr>
            <a:t>What the decision depends on:</a:t>
          </a:r>
          <a:endParaRPr lang="en-US" sz="22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25130" y="2607588"/>
        <a:ext cx="8267345" cy="464540"/>
      </dsp:txXfrm>
    </dsp:sp>
    <dsp:sp modelId="{EA7B49D1-3076-40E1-B726-F552127E64EA}">
      <dsp:nvSpPr>
        <dsp:cNvPr id="0" name=""/>
        <dsp:cNvSpPr/>
      </dsp:nvSpPr>
      <dsp:spPr>
        <a:xfrm>
          <a:off x="0" y="3097258"/>
          <a:ext cx="8317605" cy="8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08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Task complexity and the small model’s confidence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Urgency: time-critical tasks stay local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>
              <a:solidFill>
                <a:schemeClr val="bg1"/>
              </a:solidFill>
              <a:latin typeface="Arial"/>
              <a:cs typeface="Arial"/>
            </a:rPr>
            <a:t>Connection quality (Wi-Fi/5G) and battery level</a:t>
          </a:r>
        </a:p>
      </dsp:txBody>
      <dsp:txXfrm>
        <a:off x="0" y="3097258"/>
        <a:ext cx="8317605" cy="842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10/31/2026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AI for robots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DK"/>
              <a:t>Jakub </a:t>
            </a:r>
            <a:r>
              <a:rPr lang="en-DK" err="1"/>
              <a:t>Mašlonka</a:t>
            </a:r>
            <a:endParaRPr lang="en-US"/>
          </a:p>
          <a:p>
            <a:r>
              <a:rPr lang="en-US"/>
              <a:t>Raya Golcheva</a:t>
            </a:r>
          </a:p>
          <a:p>
            <a:r>
              <a:rPr lang="en-US"/>
              <a:t>Maya Gomez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B8492-17AD-35BF-5841-0AA92F0B034C}"/>
              </a:ext>
            </a:extLst>
          </p:cNvPr>
          <p:cNvSpPr txBox="1"/>
          <p:nvPr/>
        </p:nvSpPr>
        <p:spPr>
          <a:xfrm>
            <a:off x="3381555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78141-5B20-A174-2B15-FE42BCA40325}"/>
              </a:ext>
            </a:extLst>
          </p:cNvPr>
          <p:cNvSpPr txBox="1"/>
          <p:nvPr/>
        </p:nvSpPr>
        <p:spPr>
          <a:xfrm>
            <a:off x="248728" y="1203094"/>
            <a:ext cx="54274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>
                <a:solidFill>
                  <a:schemeClr val="bg1"/>
                </a:solidFill>
              </a:rPr>
              <a:t>Imagine a robot working in the real world, with no cloud connection and limited power and hardware. A big AI model is smart but heavy and slow. </a:t>
            </a:r>
            <a:endParaRPr lang="en-US">
              <a:solidFill>
                <a:schemeClr val="bg1"/>
              </a:solidFill>
            </a:endParaRPr>
          </a:p>
          <a:p>
            <a:r>
              <a:rPr lang="en-DK">
                <a:solidFill>
                  <a:schemeClr val="bg1"/>
                </a:solidFill>
              </a:rPr>
              <a:t>A small model is fast and efficient but can only handle simple tasks.</a:t>
            </a:r>
            <a:endParaRPr lang="en-US">
              <a:solidFill>
                <a:schemeClr val="bg1"/>
              </a:solidFill>
            </a:endParaRPr>
          </a:p>
          <a:p>
            <a:endParaRPr lang="en-DK">
              <a:solidFill>
                <a:schemeClr val="bg1"/>
              </a:solidFill>
            </a:endParaRPr>
          </a:p>
          <a:p>
            <a:r>
              <a:rPr lang="en-DK">
                <a:solidFill>
                  <a:schemeClr val="bg1"/>
                </a:solidFill>
              </a:rPr>
              <a:t>So we use both. The robot runs two local agents that communicate. The small one handles simple tasks, and when it can’t solve something, it passes the task to the big one.</a:t>
            </a:r>
            <a:endParaRPr lang="en-US">
              <a:solidFill>
                <a:schemeClr val="bg1"/>
              </a:solidFill>
            </a:endParaRPr>
          </a:p>
          <a:p>
            <a:endParaRPr lang="en-DK">
              <a:solidFill>
                <a:schemeClr val="bg1"/>
              </a:solidFill>
            </a:endParaRPr>
          </a:p>
          <a:p>
            <a:r>
              <a:rPr lang="en-DK">
                <a:solidFill>
                  <a:schemeClr val="bg1"/>
                </a:solidFill>
              </a:rPr>
              <a:t>This saves energy, speeds up responses, and still gives the robot strong reasoning when it needs it. Today I’ll show how the two agents share the work.</a:t>
            </a:r>
          </a:p>
          <a:p>
            <a:pPr rtl="0">
              <a:buNone/>
            </a:pPr>
            <a:endParaRPr lang="en-DK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F8BB5-FDDE-0D59-312A-3F8F38AB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20" y="1221094"/>
            <a:ext cx="5467631" cy="4229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A531-4016-8C48-CF52-3AC8CE87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047F1D-64ED-0F1A-3401-C145CF4D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 Two Locations model</a:t>
            </a:r>
            <a:endParaRPr lang="en-US"/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:a16="http://schemas.microsoft.com/office/drawing/2014/main" id="{B2006F80-093C-2D03-0986-07487507F65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342278"/>
            <a:ext cx="12192002" cy="364303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9FEC90-FBAB-EDD5-FF24-320B434139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2797" y="2139444"/>
            <a:ext cx="9402006" cy="146304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sz="1800">
                <a:latin typeface="Arial"/>
                <a:ea typeface="+mn-lt"/>
                <a:cs typeface="Arial"/>
              </a:rPr>
              <a:t>A small model on the robot, a big model on a server</a:t>
            </a:r>
          </a:p>
          <a:p>
            <a:pPr marL="285750" indent="-285750">
              <a:buFont typeface="Arial"/>
              <a:buChar char="•"/>
            </a:pPr>
            <a:r>
              <a:rPr lang="en-US" sz="1800" b="1">
                <a:latin typeface="Arial"/>
                <a:ea typeface="+mn-lt"/>
                <a:cs typeface="Arial"/>
              </a:rPr>
              <a:t>Small model (on the robot):</a:t>
            </a:r>
            <a:r>
              <a:rPr lang="en-US" sz="1800">
                <a:latin typeface="Arial"/>
                <a:ea typeface="+mn-lt"/>
                <a:cs typeface="Arial"/>
              </a:rPr>
              <a:t> runs locally, handles everyday, simple tasks quickly and cheaply, and acts as the first responder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latin typeface="Arial"/>
                <a:ea typeface="+mn-lt"/>
                <a:cs typeface="Arial"/>
              </a:rPr>
              <a:t>Big model (on a server):</a:t>
            </a:r>
            <a:r>
              <a:rPr lang="en-US" sz="1800">
                <a:latin typeface="Arial"/>
                <a:ea typeface="+mn-lt"/>
                <a:cs typeface="Arial"/>
              </a:rPr>
              <a:t> handles complex plans, unclear situations and unexpected obstacles with strong reasoning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ea typeface="+mn-lt"/>
                <a:cs typeface="Arial"/>
              </a:rPr>
              <a:t>The two models communicate over mobile connection</a:t>
            </a:r>
            <a:endParaRPr lang="en-US" sz="1800" b="1">
              <a:latin typeface="Arial"/>
              <a:cs typeface="Arial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Arial"/>
                <a:ea typeface="+mn-lt"/>
                <a:cs typeface="Arial"/>
              </a:rPr>
              <a:t>Robot to server: the task, relevant sensor data and context, and how confident the small model is</a:t>
            </a:r>
            <a:endParaRPr lang="en-US" sz="1800">
              <a:latin typeface="Arial"/>
              <a:cs typeface="Arial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Arial"/>
                <a:ea typeface="+mn-lt"/>
                <a:cs typeface="Arial"/>
              </a:rPr>
              <a:t>Server to robot: the decision, plan or instructions to execute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ea typeface="+mn-lt"/>
                <a:cs typeface="Arial"/>
              </a:rPr>
              <a:t>The small model decide which one is best suited for each task 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800">
              <a:latin typeface="Arial"/>
              <a:cs typeface="Arial"/>
            </a:endParaRPr>
          </a:p>
          <a:p>
            <a:endParaRPr lang="en-US" sz="18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5D3148-2E91-4841-5912-943475D0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7111-41FA-50F1-9123-E71DBB55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159979-FA5D-5C55-B18A-C850798175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9602F3-738C-ACD4-C0DB-84C8D81B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7B3D9-8424-4F69-8A03-14F851152F52}" type="slidenum">
              <a:rPr lang="en-US" dirty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B5F33-44A3-3B51-3ADF-E5D4A4D0D5DA}"/>
              </a:ext>
            </a:extLst>
          </p:cNvPr>
          <p:cNvSpPr txBox="1"/>
          <p:nvPr/>
        </p:nvSpPr>
        <p:spPr>
          <a:xfrm>
            <a:off x="3381555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DD295EF-6052-B9A9-03C2-FE28D0482C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518563"/>
              </p:ext>
            </p:extLst>
          </p:nvPr>
        </p:nvGraphicFramePr>
        <p:xfrm>
          <a:off x="1770844" y="1267495"/>
          <a:ext cx="8317605" cy="3958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8695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B437-AE18-9BF7-DACB-4B430A80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1D726-CEA5-D572-694D-9C2F82DBD3D7}"/>
              </a:ext>
            </a:extLst>
          </p:cNvPr>
          <p:cNvSpPr txBox="1">
            <a:spLocks/>
          </p:cNvSpPr>
          <p:nvPr/>
        </p:nvSpPr>
        <p:spPr>
          <a:xfrm>
            <a:off x="572179" y="291349"/>
            <a:ext cx="8152071" cy="2859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latin typeface="Arial"/>
                <a:ea typeface="+mj-lt"/>
                <a:cs typeface="Arial"/>
              </a:rPr>
              <a:t>Benefits:</a:t>
            </a:r>
            <a:br>
              <a:rPr lang="en-US" sz="1800">
                <a:latin typeface="Arial"/>
                <a:ea typeface="+mj-lt"/>
                <a:cs typeface="Arial"/>
              </a:rPr>
            </a:br>
            <a:r>
              <a:rPr lang="en-US" sz="1800" b="0">
                <a:latin typeface="Arial"/>
                <a:ea typeface="+mj-lt"/>
                <a:cs typeface="Arial"/>
              </a:rPr>
              <a:t>-Saves energy and battery life on the robot</a:t>
            </a:r>
            <a:endParaRPr lang="en-US" sz="1800" b="0">
              <a:latin typeface="Arial"/>
              <a:cs typeface="Arial"/>
            </a:endParaRPr>
          </a:p>
          <a:p>
            <a:r>
              <a:rPr lang="en-US" sz="1800" b="0">
                <a:latin typeface="Arial"/>
                <a:ea typeface="+mj-lt"/>
                <a:cs typeface="Arial"/>
              </a:rPr>
              <a:t>-Fast responses for everyday tasks</a:t>
            </a:r>
            <a:endParaRPr lang="en-US" sz="1800" b="0">
              <a:latin typeface="Arial"/>
              <a:cs typeface="Arial"/>
            </a:endParaRPr>
          </a:p>
          <a:p>
            <a:r>
              <a:rPr lang="en-US" sz="1800" b="0">
                <a:latin typeface="Arial"/>
                <a:ea typeface="+mj-lt"/>
                <a:cs typeface="Arial"/>
              </a:rPr>
              <a:t>-Strong reasoning is available whenever the situation demands it</a:t>
            </a:r>
            <a:endParaRPr lang="en-US" sz="1800" b="0">
              <a:latin typeface="Arial"/>
              <a:cs typeface="Arial"/>
            </a:endParaRPr>
          </a:p>
          <a:p>
            <a:r>
              <a:rPr lang="en-US" sz="1800" b="0">
                <a:latin typeface="Arial"/>
                <a:ea typeface="+mj-lt"/>
                <a:cs typeface="Arial"/>
              </a:rPr>
              <a:t>-Heavy computing stays on the server, so the robot stays light</a:t>
            </a:r>
            <a:endParaRPr lang="en-US" sz="1800" b="0">
              <a:latin typeface="Arial"/>
              <a:cs typeface="Arial"/>
            </a:endParaRPr>
          </a:p>
          <a:p>
            <a:r>
              <a:rPr lang="en-US" sz="1800" b="0">
                <a:latin typeface="Arial"/>
                <a:ea typeface="+mj-lt"/>
                <a:cs typeface="Arial"/>
              </a:rPr>
              <a:t>-The robot keeps working even when offline</a:t>
            </a:r>
            <a:endParaRPr lang="en-US" sz="1800" b="0">
              <a:latin typeface="Arial"/>
              <a:cs typeface="Arial"/>
            </a:endParaRPr>
          </a:p>
          <a:p>
            <a:br>
              <a:rPr lang="en-US" sz="1800">
                <a:latin typeface="Arial"/>
                <a:ea typeface="+mj-lt"/>
                <a:cs typeface="Arial"/>
              </a:rPr>
            </a:br>
            <a:r>
              <a:rPr lang="en-US" sz="1800">
                <a:latin typeface="Arial"/>
                <a:ea typeface="+mj-lt"/>
                <a:cs typeface="Arial"/>
              </a:rPr>
              <a:t>Better privacy: </a:t>
            </a:r>
            <a:br>
              <a:rPr lang="en-US" sz="1800">
                <a:latin typeface="Arial"/>
                <a:ea typeface="+mj-lt"/>
                <a:cs typeface="Arial"/>
              </a:rPr>
            </a:br>
            <a:r>
              <a:rPr lang="en-US" sz="1800" b="0">
                <a:latin typeface="Arial"/>
                <a:ea typeface="+mj-lt"/>
                <a:cs typeface="Arial"/>
              </a:rPr>
              <a:t>-When the local model handles a task, the data (camera images, sensor readings, surroundings) never leaves the robot, and only the information that is really needed is sent to the server</a:t>
            </a:r>
            <a:endParaRPr lang="en-US" sz="1800" b="0">
              <a:latin typeface="Arial"/>
              <a:cs typeface="Arial"/>
            </a:endParaRPr>
          </a:p>
          <a:p>
            <a:endParaRPr lang="en-US" sz="2400">
              <a:latin typeface="Arial"/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E1F880-145B-C85B-EE97-D571FD520BCC}"/>
              </a:ext>
            </a:extLst>
          </p:cNvPr>
          <p:cNvSpPr txBox="1">
            <a:spLocks/>
          </p:cNvSpPr>
          <p:nvPr/>
        </p:nvSpPr>
        <p:spPr>
          <a:xfrm>
            <a:off x="5842895" y="3556848"/>
            <a:ext cx="6145167" cy="293332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FFFFFF"/>
                </a:solidFill>
                <a:ea typeface="+mn-lt"/>
                <a:cs typeface="+mn-lt"/>
              </a:rPr>
              <a:t>If the connection is lost:</a:t>
            </a:r>
            <a:endParaRPr lang="en-US" sz="1600">
              <a:solidFill>
                <a:srgbClr val="FFFFFF"/>
              </a:solidFill>
              <a:cs typeface="Arial"/>
            </a:endParaRPr>
          </a:p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The robot simply keeps using the small model, so it never stops working</a:t>
            </a:r>
            <a:endParaRPr lang="en-US" sz="1600">
              <a:solidFill>
                <a:srgbClr val="FFFFFF"/>
              </a:solidFill>
            </a:endParaRPr>
          </a:p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Simple tasks run exactly as normal</a:t>
            </a:r>
            <a:endParaRPr lang="en-US" sz="1600">
              <a:solidFill>
                <a:srgbClr val="FFFFFF"/>
              </a:solidFill>
            </a:endParaRPr>
          </a:p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Complex tasks are handled with the small model’s best effort, and the robot can switch to cautious behavior, such as slowing down</a:t>
            </a:r>
          </a:p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Once Wi-Fi or 5G is back, the big model becomes available again</a:t>
            </a:r>
            <a:endParaRPr lang="en-US" sz="1600">
              <a:solidFill>
                <a:srgbClr val="FFFFFF"/>
              </a:solidFill>
            </a:endParaRPr>
          </a:p>
          <a:p>
            <a:endParaRPr lang="en-US" sz="1600">
              <a:solidFill>
                <a:srgbClr val="FFFFFF"/>
              </a:solidFill>
              <a:cs typeface="Arial"/>
            </a:endParaRPr>
          </a:p>
          <a:p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3" name="Picture 2" descr="Imágenes de Happy ai robot: descarga gratuita en Magnific (anteriormente Freepik)">
            <a:extLst>
              <a:ext uri="{FF2B5EF4-FFF2-40B4-BE49-F238E27FC236}">
                <a16:creationId xmlns:a16="http://schemas.microsoft.com/office/drawing/2014/main" id="{CB3848C9-11F3-40A3-919A-A0B4D811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" y="2944495"/>
            <a:ext cx="2371090" cy="235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6691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F2531B-7F4A-440D-F42E-957D80F4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FAC0A2-C4E2-A7ED-DB81-1ED6EC098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203743"/>
              </p:ext>
            </p:extLst>
          </p:nvPr>
        </p:nvGraphicFramePr>
        <p:xfrm>
          <a:off x="1421027" y="1431324"/>
          <a:ext cx="9347826" cy="384789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6944100">
                  <a:extLst>
                    <a:ext uri="{9D8B030D-6E8A-4147-A177-3AD203B41FA5}">
                      <a16:colId xmlns:a16="http://schemas.microsoft.com/office/drawing/2014/main" val="1861293124"/>
                    </a:ext>
                  </a:extLst>
                </a:gridCol>
                <a:gridCol w="2403726">
                  <a:extLst>
                    <a:ext uri="{9D8B030D-6E8A-4147-A177-3AD203B41FA5}">
                      <a16:colId xmlns:a16="http://schemas.microsoft.com/office/drawing/2014/main" val="3879216360"/>
                    </a:ext>
                  </a:extLst>
                </a:gridCol>
              </a:tblGrid>
              <a:tr h="556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Task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Assigned model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0973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Greeting visitors and small talk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Small model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9073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Checking in a visitor from a fixed list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Small model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2206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Giving simple directions in the building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Small model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627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Calling a human staff member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Small model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6425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Simple yes/no and confirmation questions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Small model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081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Opening hours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2365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Toilet location questions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42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Answering unusual or detailed questions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77123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Understanding unclear or complicated requests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1083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Handling complaints or sensitive situations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8230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Translating less common languages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3960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Writing a longer message or summary of a visit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Big model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79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5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39EB03-D81D-4148-325D-42B481A72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6" y="974785"/>
            <a:ext cx="11378241" cy="521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77194-60CF-DF6A-7B47-6ECD1DE5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9CD93B-671D-A766-22D1-656399A0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1388853"/>
            <a:ext cx="8658225" cy="5111959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8A4DB625-FA6C-9816-17A1-A06D2432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28253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Tahoma"/>
                <a:cs typeface="Tahoma"/>
              </a:rPr>
              <a:t>Thank You!</a:t>
            </a:r>
            <a:endParaRPr lang="en-GB">
              <a:ea typeface="Tahoma"/>
              <a:cs typeface="Tahoma"/>
            </a:endParaRPr>
          </a:p>
        </p:txBody>
      </p:sp>
      <p:pic>
        <p:nvPicPr>
          <p:cNvPr id="3" name="Picture 2" descr="bin/cat Exactly how I imagined : r/ProgrammerHumor">
            <a:extLst>
              <a:ext uri="{FF2B5EF4-FFF2-40B4-BE49-F238E27FC236}">
                <a16:creationId xmlns:a16="http://schemas.microsoft.com/office/drawing/2014/main" id="{0E99ED96-B64A-42CE-75B8-AB2F37BA1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"/>
          <a:stretch>
            <a:fillRect/>
          </a:stretch>
        </p:blipFill>
        <p:spPr>
          <a:xfrm>
            <a:off x="750134" y="1173028"/>
            <a:ext cx="3640002" cy="452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73A26822B3A124F92B33DFCF7A3452E" ma:contentTypeVersion="5" ma:contentTypeDescription="Opret et nyt dokument." ma:contentTypeScope="" ma:versionID="bcc69517d9c622e520ae248f41075803">
  <xsd:schema xmlns:xsd="http://www.w3.org/2001/XMLSchema" xmlns:xs="http://www.w3.org/2001/XMLSchema" xmlns:p="http://schemas.microsoft.com/office/2006/metadata/properties" xmlns:ns3="2b4bdcbe-8cf4-422f-b193-f2082ecdb04b" targetNamespace="http://schemas.microsoft.com/office/2006/metadata/properties" ma:root="true" ma:fieldsID="ea77fd435903901a3f7edd077d162676" ns3:_="">
    <xsd:import namespace="2b4bdcbe-8cf4-422f-b193-f2082ecdb04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bdcbe-8cf4-422f-b193-f2082ecdb04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4bdcbe-8cf4-422f-b193-f2082ecdb04b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C0AE77-D3D5-4FAD-96BE-F37C95D66D7D}">
  <ds:schemaRefs>
    <ds:schemaRef ds:uri="2b4bdcbe-8cf4-422f-b193-f2082ecdb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2b4bdcbe-8cf4-422f-b193-f2082ecdb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AI for robots</vt:lpstr>
      <vt:lpstr>Introduction</vt:lpstr>
      <vt:lpstr> Two Locations model</vt:lpstr>
      <vt:lpstr>PowerPoint Presentation</vt:lpstr>
      <vt:lpstr>PowerPoint Presentation</vt:lpstr>
      <vt:lpstr>PowerPoint Presentation</vt:lpstr>
      <vt:lpstr>PowerPoint Presentation</vt:lpstr>
      <vt:lpstr>Sample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 Golcheva</dc:creator>
  <cp:revision>2</cp:revision>
  <dcterms:created xsi:type="dcterms:W3CDTF">2026-10-31T11:15:44Z</dcterms:created>
  <dcterms:modified xsi:type="dcterms:W3CDTF">2026-10-31T14:07:04Z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0x010100073A26822B3A124F92B33DFCF7A3452E</vt:lpwstr>
  </property>
</Properties>
</file>